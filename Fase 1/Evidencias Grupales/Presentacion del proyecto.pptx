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Franklin Gothic"/>
      <p:bold r:id="rId23"/>
    </p:embeddedFont>
    <p:embeddedFont>
      <p:font typeface="Bebas Neue"/>
      <p:regular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dpAxiJigWtr24kHDhgA3ms1C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701223-ED03-48F2-A861-AA293F6AB938}">
  <a:tblStyle styleId="{62701223-ED03-48F2-A861-AA293F6AB9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ebasNeue-regular.fntdata"/><Relationship Id="rId23" Type="http://schemas.openxmlformats.org/officeDocument/2006/relationships/font" Target="fonts/Franklin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000"/>
              <a:t>Fase 1 Proyecto APT</a:t>
            </a:r>
            <a:br>
              <a:rPr lang="en-US" sz="4000"/>
            </a:br>
            <a:br>
              <a:rPr lang="en-US" sz="4000"/>
            </a:br>
            <a:br>
              <a:rPr lang="en-US" sz="2000"/>
            </a:br>
            <a:r>
              <a:rPr b="1" lang="en-US" sz="2000"/>
              <a:t>Docente: </a:t>
            </a:r>
            <a:r>
              <a:rPr lang="en-US" sz="2000"/>
              <a:t>Reginaldo Salinas Bruna</a:t>
            </a:r>
            <a:br>
              <a:rPr lang="en-US" sz="2000"/>
            </a:br>
            <a:r>
              <a:rPr lang="en-US" sz="2000"/>
              <a:t>Grupo Nº4:</a:t>
            </a:r>
            <a:br>
              <a:rPr lang="en-US" sz="2000"/>
            </a:br>
            <a:r>
              <a:rPr lang="en-US" sz="2000"/>
              <a:t>Integrantes:</a:t>
            </a:r>
            <a:br>
              <a:rPr lang="en-US" sz="2000"/>
            </a:br>
            <a:r>
              <a:rPr lang="en-US" sz="2000"/>
              <a:t>Alexis Jara</a:t>
            </a:r>
            <a:br>
              <a:rPr lang="en-US" sz="2000"/>
            </a:br>
            <a:r>
              <a:rPr lang="en-US" sz="2000"/>
              <a:t>Benjamin Riffo</a:t>
            </a:r>
            <a:br>
              <a:rPr lang="en-US" sz="2000"/>
            </a:br>
            <a:r>
              <a:rPr lang="en-US" sz="2000"/>
              <a:t>Ignacio Peña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25" y="1668200"/>
            <a:ext cx="3938349" cy="4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925" y="2357750"/>
            <a:ext cx="4855425" cy="9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925" y="3429000"/>
            <a:ext cx="4901375" cy="14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</a:t>
            </a:r>
            <a:endParaRPr/>
          </a:p>
        </p:txBody>
      </p:sp>
      <p:pic>
        <p:nvPicPr>
          <p:cNvPr id="84" name="Google Shape;8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00" y="1517025"/>
            <a:ext cx="5084375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318975" y="2272700"/>
            <a:ext cx="84828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2400"/>
              <a:buFont typeface="Franklin Gothic"/>
              <a:buChar char="●"/>
            </a:pPr>
            <a:r>
              <a:rPr b="1" lang="en-US" sz="1500">
                <a:solidFill>
                  <a:srgbClr val="334155"/>
                </a:solidFill>
              </a:rPr>
              <a:t>Arquitectura y BD:</a:t>
            </a:r>
            <a:r>
              <a:rPr lang="en-US" sz="1500">
                <a:solidFill>
                  <a:srgbClr val="334155"/>
                </a:solidFill>
              </a:rPr>
              <a:t> Diseño robusto y construcción de modelos relacionales escalables para soportar a múltiples Juntas de Vecinos.</a:t>
            </a:r>
            <a:endParaRPr sz="1500">
              <a:solidFill>
                <a:srgbClr val="334155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2400"/>
              <a:buFont typeface="Franklin Gothic"/>
              <a:buChar char="●"/>
            </a:pPr>
            <a:r>
              <a:rPr b="1" lang="en-US" sz="1500">
                <a:solidFill>
                  <a:srgbClr val="334155"/>
                </a:solidFill>
              </a:rPr>
              <a:t>Interfaces Seguras:</a:t>
            </a:r>
            <a:r>
              <a:rPr lang="en-US" sz="1500">
                <a:solidFill>
                  <a:srgbClr val="334155"/>
                </a:solidFill>
              </a:rPr>
              <a:t> Desarrollo móvil con estrictos niveles de validación y acceso de usuarios.</a:t>
            </a:r>
            <a:endParaRPr sz="1500">
              <a:solidFill>
                <a:srgbClr val="334155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2400"/>
              <a:buFont typeface="Franklin Gothic"/>
              <a:buChar char="●"/>
            </a:pPr>
            <a:r>
              <a:rPr b="1" lang="en-US" sz="1500">
                <a:solidFill>
                  <a:srgbClr val="334155"/>
                </a:solidFill>
              </a:rPr>
              <a:t>Automatización:</a:t>
            </a:r>
            <a:r>
              <a:rPr lang="en-US" sz="1500">
                <a:solidFill>
                  <a:srgbClr val="334155"/>
                </a:solidFill>
              </a:rPr>
              <a:t> Implementación sistémica para transacciones (Marketplace) y ubicación (GPS).</a:t>
            </a:r>
            <a:endParaRPr sz="1500">
              <a:solidFill>
                <a:srgbClr val="334155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2400"/>
              <a:buFont typeface="Franklin Gothic"/>
              <a:buChar char="●"/>
            </a:pPr>
            <a:r>
              <a:rPr b="1" lang="en-US" sz="1500">
                <a:solidFill>
                  <a:srgbClr val="334155"/>
                </a:solidFill>
              </a:rPr>
              <a:t>Intereses Profesionales:</a:t>
            </a:r>
            <a:r>
              <a:rPr lang="en-US" sz="1500">
                <a:solidFill>
                  <a:srgbClr val="334155"/>
                </a:solidFill>
              </a:rPr>
              <a:t> El proyecto nos permite aplicar conocimientos en un producto real y con un modelo de negocio claro, abordando retos en seguridad y datos geoespaciales.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Factibilidad del Proyecto</a:t>
            </a:r>
            <a:endParaRPr/>
          </a:p>
        </p:txBody>
      </p:sp>
      <p:pic>
        <p:nvPicPr>
          <p:cNvPr id="96" name="Google Shape;9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5" y="2125075"/>
            <a:ext cx="8537573" cy="26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  <p:pic>
        <p:nvPicPr>
          <p:cNvPr id="107" name="Google Shape;10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750" y="2194875"/>
            <a:ext cx="8198426" cy="325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del Proyecto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350550" y="2302600"/>
            <a:ext cx="8442900" cy="4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Char char="●"/>
            </a:pPr>
            <a:r>
              <a:rPr b="1" lang="en-US" sz="1700"/>
              <a:t>Fase 1 – Definición:</a:t>
            </a:r>
            <a:r>
              <a:rPr lang="en-US" sz="1700"/>
              <a:t> problemática, alcance, objetivos, roles y riesgos. </a:t>
            </a:r>
            <a:endParaRPr sz="2100">
              <a:solidFill>
                <a:srgbClr val="334155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Char char="●"/>
            </a:pPr>
            <a:r>
              <a:rPr b="1" lang="en-US" sz="1700"/>
              <a:t>Fase 2 – Diseño:</a:t>
            </a:r>
            <a:r>
              <a:rPr lang="en-US" sz="1700"/>
              <a:t> requisitos, arquitectura, BD, APIs y prototipos. </a:t>
            </a:r>
            <a:endParaRPr sz="2100">
              <a:solidFill>
                <a:srgbClr val="334155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Char char="●"/>
            </a:pPr>
            <a:r>
              <a:rPr b="1" lang="en-US" sz="1700"/>
              <a:t>Fase 3 – Construcción:</a:t>
            </a:r>
            <a:r>
              <a:rPr lang="en-US" sz="1700"/>
              <a:t> desarrollo mediante Sprints, integración frontend/backend, GPS, notificaciones, Marketplace, publicidad y pruebas. </a:t>
            </a:r>
            <a:endParaRPr sz="2100">
              <a:solidFill>
                <a:srgbClr val="334155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Char char="●"/>
            </a:pPr>
            <a:r>
              <a:rPr b="1" lang="en-US" sz="1700"/>
              <a:t>Fase 4 – Cierre:</a:t>
            </a:r>
            <a:r>
              <a:rPr lang="en-US" sz="1700"/>
              <a:t> validación con usuarios, feedback, documentación, presentación y entrega final. </a:t>
            </a:r>
            <a:endParaRPr sz="30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299025" y="1365625"/>
            <a:ext cx="53928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Metodología de desarrollo ágil basada en Scrum, organizada en cuatro fases: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del Proyecto</a:t>
            </a:r>
            <a:endParaRPr/>
          </a:p>
        </p:txBody>
      </p:sp>
      <p:graphicFrame>
        <p:nvGraphicFramePr>
          <p:cNvPr id="130" name="Google Shape;130;p13"/>
          <p:cNvGraphicFramePr/>
          <p:nvPr/>
        </p:nvGraphicFramePr>
        <p:xfrm>
          <a:off x="952500" y="20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{62701223-ED03-48F2-A861-AA293F6AB938}</a:tableStyleId>
              </a:tblPr>
              <a:tblGrid>
                <a:gridCol w="2413000"/>
                <a:gridCol w="2399500"/>
                <a:gridCol w="242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Fase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Principales actividades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Duración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1. Definición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Problemática • Alcance y objetivos • Roles • Riesgos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20 días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2. Diseño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Requisitos • Arquitectura • Base de datos • APIs • Prototipos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20 días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3. Construcción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Sprints • Frontend/Backend • GPS • Notificaciones • Marketplace • Ads • Pruebas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25 días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4. Cierre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Validación • Feedback • Documentación • Presentación • Entrega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25 días</a:t>
                      </a:r>
                      <a:endParaRPr b="1" sz="1100"/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Plan completo del proyecto</a:t>
                      </a:r>
                      <a:endParaRPr b="1" sz="1100"/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90 días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00" y="2093900"/>
            <a:ext cx="8330398" cy="30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/>
            </a:br>
            <a:r>
              <a:rPr lang="en-US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